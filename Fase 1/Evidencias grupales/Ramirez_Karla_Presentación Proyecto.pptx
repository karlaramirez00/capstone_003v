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369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9916" y="1417320"/>
            <a:ext cx="4389120" cy="164739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2461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TÍTULO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413248" y="3794760"/>
            <a:ext cx="1371600" cy="457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2"/>
          <p:cNvSpPr txBox="1"/>
          <p:nvPr/>
        </p:nvSpPr>
        <p:spPr>
          <a:xfrm>
            <a:off x="0" y="39776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de RRHH para empresa del rubro construcción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 — Sección 003_V</a:t>
            </a:r>
            <a:endParaRPr lang="en-US" sz="1300" dirty="0"/>
          </a:p>
        </p:txBody>
      </p:sp>
      <p:pic>
        <p:nvPicPr>
          <p:cNvPr id="8" name="Google Shape;119;p1">
            <a:extLst>
              <a:ext uri="{FF2B5EF4-FFF2-40B4-BE49-F238E27FC236}">
                <a16:creationId xmlns:a16="http://schemas.microsoft.com/office/drawing/2014/main" id="{9289C0F3-7DEA-07CB-6FF9-E8842D34C1B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572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749040" y="1737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49040" y="20299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Karla Ramírez Hidalgo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606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89864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749040" y="3474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76732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Full Stack, análisis y gestión del proyecto (trabajo individual)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43434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GUÍA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49040" y="46360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Valenzuela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5212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55046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003_V</a:t>
            </a:r>
            <a:endParaRPr lang="en-US" sz="1600" dirty="0"/>
          </a:p>
        </p:txBody>
      </p:sp>
      <p:pic>
        <p:nvPicPr>
          <p:cNvPr id="18" name="Google Shape;129;p2" descr="Karla R.">
            <a:extLst>
              <a:ext uri="{FF2B5EF4-FFF2-40B4-BE49-F238E27FC236}">
                <a16:creationId xmlns:a16="http://schemas.microsoft.com/office/drawing/2014/main" id="{B966D175-B5DE-75A7-15C5-764F0C4EB15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427" y="1772729"/>
            <a:ext cx="1969544" cy="1969544"/>
          </a:xfrm>
          <a:prstGeom prst="ellipse">
            <a:avLst/>
          </a:prstGeom>
          <a:noFill/>
          <a:ln w="63500" cap="rnd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  <a:effectLst>
            <a:outerShdw blurRad="381000" dist="292100" dir="5400000" sx="-80000" sy="-18000" rotWithShape="0">
              <a:srgbClr val="000000">
                <a:alpha val="21960"/>
              </a:srgbClr>
            </a:outerShdw>
          </a:effectLst>
        </p:spPr>
      </p:pic>
      <p:pic>
        <p:nvPicPr>
          <p:cNvPr id="20" name="Google Shape;119;p1">
            <a:extLst>
              <a:ext uri="{FF2B5EF4-FFF2-40B4-BE49-F238E27FC236}">
                <a16:creationId xmlns:a16="http://schemas.microsoft.com/office/drawing/2014/main" id="{60FD7F6B-4B80-A092-48D6-13399349BED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572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463040"/>
            <a:ext cx="1109167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Promaty es un sistema de gestión de RRHH pensado para una empresa del rubro construcción que ejecuta proyectos simultáneos en distintas obras, cada una identificada por un centro de costo.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incorporación, traslado y desvinculación de trabajadores en cada obra afecta directamente el avance de los proyectos.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la empresa apoya su gestión de RRHH en un ERP externo (Rex+, con módulos certificados por la Dirección del Trabajo) y en procesos manuales paralelos.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marcaje de asistencia se registra en un libro físico; permisos, vacaciones y otras solicitudes se coordinan por WhatsApp, correo o llamada, sin registro ni trazabilidad.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acceso a Rex+ está limitado al personal de RRHH — las jefaturas de centro de costo no cuentan con un canal formal para generar ni aprobar solicitudes.</a:t>
            </a:r>
            <a:endParaRPr lang="en-US" sz="1600" dirty="0"/>
          </a:p>
        </p:txBody>
      </p:sp>
      <p:pic>
        <p:nvPicPr>
          <p:cNvPr id="7" name="Google Shape;119;p1">
            <a:extLst>
              <a:ext uri="{FF2B5EF4-FFF2-40B4-BE49-F238E27FC236}">
                <a16:creationId xmlns:a16="http://schemas.microsoft.com/office/drawing/2014/main" id="{F9AFF9FE-79ED-4A51-8B5B-7A9F4D814E0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PROBLEMÁTICA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572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463040"/>
            <a:ext cx="1109167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■"/>
            </a:pPr>
            <a:r>
              <a:rPr lang="en-US" sz="17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gestiones del ciclo de vida del trabajador —contratación, traslados, término de la relación laboral, permisos y vacaciones— se coordinan de forma informal entre la jefatura de obra y RRHH.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■"/>
            </a:pPr>
            <a:r>
              <a:rPr lang="en-US" sz="17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 registro centralizado ni un flujo de aprobación formal para estas solicitudes.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■"/>
            </a:pPr>
            <a:r>
              <a:rPr lang="en-US" sz="17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RRHH gestiona estos procesos de forma manual y, en paralelo, debe mantener alineado el sistema propio con el ERP externo para el cálculo de remuneraciones.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■"/>
            </a:pPr>
            <a:r>
              <a:rPr lang="en-US" sz="17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genera doble digitación, pérdida de trazabilidad y errores por falta de validación formal antes de aprobar cada solicitud.</a:t>
            </a:r>
            <a:endParaRPr lang="en-US" sz="1700" dirty="0"/>
          </a:p>
        </p:txBody>
      </p:sp>
      <p:pic>
        <p:nvPicPr>
          <p:cNvPr id="7" name="Google Shape;119;p1">
            <a:extLst>
              <a:ext uri="{FF2B5EF4-FFF2-40B4-BE49-F238E27FC236}">
                <a16:creationId xmlns:a16="http://schemas.microsoft.com/office/drawing/2014/main" id="{03441531-69CC-7125-5B81-DC653C89340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13248" y="3063240"/>
            <a:ext cx="13716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1"/>
          <p:cNvSpPr txBox="1"/>
          <p:nvPr/>
        </p:nvSpPr>
        <p:spPr>
          <a:xfrm>
            <a:off x="0" y="320040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SOLUCIÓN</a:t>
            </a:r>
            <a:endParaRPr lang="en-US" sz="5600" dirty="0"/>
          </a:p>
        </p:txBody>
      </p:sp>
      <p:pic>
        <p:nvPicPr>
          <p:cNvPr id="6" name="Google Shape;119;p1">
            <a:extLst>
              <a:ext uri="{FF2B5EF4-FFF2-40B4-BE49-F238E27FC236}">
                <a16:creationId xmlns:a16="http://schemas.microsoft.com/office/drawing/2014/main" id="{589B8AE7-E11E-3156-E9EE-BC5F97DF91E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PROMATY?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572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46304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que centraliza las solicitudes asociadas al ciclo de vida del colaborador (contratación, anexos, finiquito, traspasos entre centros de costo, permisos y vacaciones), además de la gestión de asistencia y remuneraciones.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48640" y="3200400"/>
            <a:ext cx="3514344" cy="2377440"/>
          </a:xfrm>
          <a:prstGeom prst="rect">
            <a:avLst/>
          </a:prstGeom>
          <a:solidFill>
            <a:srgbClr val="F4F4F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548640" y="3200400"/>
            <a:ext cx="73152" cy="23774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 txBox="1"/>
          <p:nvPr/>
        </p:nvSpPr>
        <p:spPr>
          <a:xfrm>
            <a:off x="822960" y="3383280"/>
            <a:ext cx="3011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aprobación en 2 niveles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114800"/>
            <a:ext cx="3011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Jefatura de centro de costo → RRHH, con motivo de rechazo y corrección.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37304" y="3200400"/>
            <a:ext cx="3514344" cy="2377440"/>
          </a:xfrm>
          <a:prstGeom prst="rect">
            <a:avLst/>
          </a:prstGeom>
          <a:solidFill>
            <a:srgbClr val="F4F4F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37304" y="3200400"/>
            <a:ext cx="73152" cy="23774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611624" y="3383280"/>
            <a:ext cx="3011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 por rol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611624" y="4114800"/>
            <a:ext cx="3011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usuario ve y gestiona solo los centros de costo que le corresponden.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125968" y="3200400"/>
            <a:ext cx="3514344" cy="2377440"/>
          </a:xfrm>
          <a:prstGeom prst="rect">
            <a:avLst/>
          </a:prstGeom>
          <a:solidFill>
            <a:srgbClr val="F4F4F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8125968" y="3200400"/>
            <a:ext cx="73152" cy="23774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8400288" y="3383280"/>
            <a:ext cx="3011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con Rex+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400288" y="4114800"/>
            <a:ext cx="3011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Simulada en este proyecto: evita que RRHH vuelva a digitar los datos aprobados.</a:t>
            </a:r>
            <a:endParaRPr lang="en-US" sz="1250" dirty="0"/>
          </a:p>
        </p:txBody>
      </p:sp>
      <p:pic>
        <p:nvPicPr>
          <p:cNvPr id="19" name="Google Shape;119;p1">
            <a:extLst>
              <a:ext uri="{FF2B5EF4-FFF2-40B4-BE49-F238E27FC236}">
                <a16:creationId xmlns:a16="http://schemas.microsoft.com/office/drawing/2014/main" id="{AAA465E2-49C7-FD1D-5E9C-D63CDAD0BC7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572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830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 implementar un sistema de gestión de solicitudes del ciclo de vida del colaborador, junto con la gestión de asistencia y remuneraciones, que formalice y dé trazabilidad al proceso de solicitud y aprobación entre la jefatura de centro de costo y RRHH.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91840"/>
            <a:ext cx="110916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a las jefaturas de obra generar solicitudes formales del ciclo de vida del colaborador, reemplazando la coordinación informal actual.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un flujo de aprobación en dos niveles, entre la jefatura de centro de costo y RRHH, con motivo de rechazo y ciclo de corrección.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la ficha del colaborador y el estado de cada solicitud, con trazabilidad completa.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la carga de los datos aprobados en Rex+ (simulado), evitando la doble digitación manual.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la doble digitación y los errores asociados al ingreso manual de datos en más de una plataforma.</a:t>
            </a:r>
            <a:endParaRPr lang="en-US" sz="1350" dirty="0"/>
          </a:p>
        </p:txBody>
      </p:sp>
      <p:pic>
        <p:nvPicPr>
          <p:cNvPr id="10" name="Google Shape;119;p1">
            <a:extLst>
              <a:ext uri="{FF2B5EF4-FFF2-40B4-BE49-F238E27FC236}">
                <a16:creationId xmlns:a16="http://schemas.microsoft.com/office/drawing/2014/main" id="{EE96AAAA-4E4E-7F7A-0CCF-2994C26D02E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DATOS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572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6876837" cy="4480560"/>
          </a:xfrm>
          <a:prstGeom prst="rect">
            <a:avLst/>
          </a:prstGeom>
          <a:solidFill>
            <a:srgbClr val="F4F4F5"/>
          </a:solidFill>
          <a:ln w="12700">
            <a:solidFill>
              <a:srgbClr val="9CA3AF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6876837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[pega captura del diagrama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dbdiagram.io aquí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actualizar antes con el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DBML más reciente]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91237" y="1463040"/>
            <a:ext cx="38490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principales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91237" y="1920240"/>
            <a:ext cx="384907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/ Anexo / Finiquito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(centro de costo)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PlatformStatus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Role / Permission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Asistencia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35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Remuneraciones</a:t>
            </a:r>
            <a:endParaRPr lang="en-US" sz="1350" dirty="0"/>
          </a:p>
        </p:txBody>
      </p:sp>
      <p:pic>
        <p:nvPicPr>
          <p:cNvPr id="10" name="Google Shape;119;p1">
            <a:extLst>
              <a:ext uri="{FF2B5EF4-FFF2-40B4-BE49-F238E27FC236}">
                <a16:creationId xmlns:a16="http://schemas.microsoft.com/office/drawing/2014/main" id="{0989F508-2DA2-8BD1-E7EC-E1F2EF31239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572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11091672" cy="4480560"/>
          </a:xfrm>
          <a:prstGeom prst="rect">
            <a:avLst/>
          </a:prstGeom>
          <a:solidFill>
            <a:srgbClr val="F4F4F5"/>
          </a:solidFill>
          <a:ln w="12700">
            <a:solidFill>
              <a:srgbClr val="9CA3AF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1109167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[pega diagrama de arquitectura (jpg) aquí]</a:t>
            </a:r>
            <a:endParaRPr lang="en-US" sz="1400" dirty="0"/>
          </a:p>
        </p:txBody>
      </p:sp>
      <p:pic>
        <p:nvPicPr>
          <p:cNvPr id="8" name="Google Shape;119;p1">
            <a:extLst>
              <a:ext uri="{FF2B5EF4-FFF2-40B4-BE49-F238E27FC236}">
                <a16:creationId xmlns:a16="http://schemas.microsoft.com/office/drawing/2014/main" id="{C8B5925B-A85F-BC14-8DC9-A69ACAE4E70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TECNOLOGÍAS UTILIZADAS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572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14344" cy="4572000"/>
          </a:xfrm>
          <a:prstGeom prst="rect">
            <a:avLst/>
          </a:prstGeom>
          <a:solidFill>
            <a:srgbClr val="F4F4F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514344" cy="7315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822960" y="1783080"/>
            <a:ext cx="2965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296570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Vuetify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37304" y="1554480"/>
            <a:ext cx="3514344" cy="4572000"/>
          </a:xfrm>
          <a:prstGeom prst="rect">
            <a:avLst/>
          </a:prstGeom>
          <a:solidFill>
            <a:srgbClr val="F4F4F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4337304" y="1554480"/>
            <a:ext cx="3514344" cy="7315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 txBox="1"/>
          <p:nvPr/>
        </p:nvSpPr>
        <p:spPr>
          <a:xfrm>
            <a:off x="4611624" y="1783080"/>
            <a:ext cx="2965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1624" y="2377440"/>
            <a:ext cx="296570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Tx/>
              <a:buChar char="■"/>
            </a:pPr>
            <a:r>
              <a:rPr lang="es-ES" sz="1400" dirty="0"/>
              <a:t>Spring Cloud (Eureka, </a:t>
            </a:r>
            <a:r>
              <a:rPr lang="es-ES" sz="1400" dirty="0" err="1"/>
              <a:t>OpenFeign</a:t>
            </a:r>
            <a:r>
              <a:rPr lang="es-ES" sz="1400" dirty="0"/>
              <a:t>)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■"/>
            </a:pPr>
            <a:r>
              <a:rPr lang="es-ES" sz="1400" dirty="0"/>
              <a:t>5 microservicios: </a:t>
            </a:r>
          </a:p>
          <a:p>
            <a:pPr marL="800100" lvl="1" indent="-342900">
              <a:spcAft>
                <a:spcPts val="1000"/>
              </a:spcAft>
              <a:buSzPct val="100000"/>
              <a:buFontTx/>
              <a:buChar char="■"/>
            </a:pPr>
            <a:r>
              <a:rPr lang="es-ES" sz="1400" dirty="0"/>
              <a:t>eureka-server</a:t>
            </a:r>
          </a:p>
          <a:p>
            <a:pPr marL="800100" lvl="1" indent="-342900">
              <a:spcAft>
                <a:spcPts val="1000"/>
              </a:spcAft>
              <a:buSzPct val="100000"/>
              <a:buFontTx/>
              <a:buChar char="■"/>
            </a:pPr>
            <a:r>
              <a:rPr lang="es-ES" sz="1400" dirty="0" err="1"/>
              <a:t>gateway</a:t>
            </a:r>
            <a:r>
              <a:rPr lang="es-ES" sz="1400" dirty="0"/>
              <a:t>-server</a:t>
            </a:r>
          </a:p>
          <a:p>
            <a:pPr marL="800100" lvl="1" indent="-342900">
              <a:spcAft>
                <a:spcPts val="1000"/>
              </a:spcAft>
              <a:buSzPct val="100000"/>
              <a:buFontTx/>
              <a:buChar char="■"/>
            </a:pPr>
            <a:r>
              <a:rPr lang="es-ES" sz="1400" dirty="0" err="1"/>
              <a:t>authorizer</a:t>
            </a:r>
            <a:r>
              <a:rPr lang="es-ES" sz="1400" dirty="0"/>
              <a:t>-server</a:t>
            </a:r>
          </a:p>
          <a:p>
            <a:pPr marL="800100" lvl="1" indent="-342900">
              <a:spcAft>
                <a:spcPts val="1000"/>
              </a:spcAft>
              <a:buSzPct val="100000"/>
              <a:buFontTx/>
              <a:buChar char="■"/>
            </a:pPr>
            <a:r>
              <a:rPr lang="es-ES" sz="1400" dirty="0" err="1"/>
              <a:t>user</a:t>
            </a:r>
            <a:r>
              <a:rPr lang="es-ES" sz="1400" dirty="0"/>
              <a:t>-server</a:t>
            </a:r>
          </a:p>
          <a:p>
            <a:pPr marL="800100" lvl="1" indent="-342900">
              <a:spcAft>
                <a:spcPts val="1000"/>
              </a:spcAft>
              <a:buSzPct val="100000"/>
              <a:buFontTx/>
              <a:buChar char="■"/>
            </a:pPr>
            <a:r>
              <a:rPr lang="es-ES" sz="1400" dirty="0" err="1"/>
              <a:t>rrhh</a:t>
            </a:r>
            <a:r>
              <a:rPr lang="es-ES" sz="1400" dirty="0"/>
              <a:t>-server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125968" y="1554480"/>
            <a:ext cx="3514344" cy="4572000"/>
          </a:xfrm>
          <a:prstGeom prst="rect">
            <a:avLst/>
          </a:prstGeom>
          <a:solidFill>
            <a:srgbClr val="F4F4F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8125968" y="1554480"/>
            <a:ext cx="3514344" cy="7315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 txBox="1"/>
          <p:nvPr/>
        </p:nvSpPr>
        <p:spPr>
          <a:xfrm>
            <a:off x="8400288" y="1783080"/>
            <a:ext cx="2965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e infraestructura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400288" y="2377440"/>
            <a:ext cx="296570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(calidad y seguridad)</a:t>
            </a:r>
            <a:endParaRPr lang="en-US" sz="1400" dirty="0"/>
          </a:p>
        </p:txBody>
      </p:sp>
      <p:pic>
        <p:nvPicPr>
          <p:cNvPr id="18" name="Google Shape;119;p1">
            <a:extLst>
              <a:ext uri="{FF2B5EF4-FFF2-40B4-BE49-F238E27FC236}">
                <a16:creationId xmlns:a16="http://schemas.microsoft.com/office/drawing/2014/main" id="{A273E5E4-8EC4-94B6-E52E-F67D3995040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572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1828800" cy="822960"/>
          </a:xfrm>
          <a:prstGeom prst="rect">
            <a:avLst/>
          </a:prstGeom>
          <a:solidFill>
            <a:srgbClr val="FDECEC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3"/>
          <p:cNvSpPr txBox="1"/>
          <p:nvPr/>
        </p:nvSpPr>
        <p:spPr>
          <a:xfrm>
            <a:off x="548640" y="1554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Construido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651760" y="1554480"/>
            <a:ext cx="8988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 basado en roles y permisos (ver, crear, editar, exportar) sobre los módulos ya construidos.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1828800" cy="822960"/>
          </a:xfrm>
          <a:prstGeom prst="rect">
            <a:avLst/>
          </a:prstGeom>
          <a:solidFill>
            <a:srgbClr val="FDECEC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 txBox="1"/>
          <p:nvPr/>
        </p:nvSpPr>
        <p:spPr>
          <a:xfrm>
            <a:off x="548640" y="26060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roadmap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2606040"/>
            <a:ext cx="8988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control de acceso ligado a la aprobación en dos niveles y a la asignación por centro de costo está diseñado, en el roadmap para próximas etapas.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3657600"/>
            <a:ext cx="1828800" cy="822960"/>
          </a:xfrm>
          <a:prstGeom prst="rect">
            <a:avLst/>
          </a:prstGeom>
          <a:solidFill>
            <a:srgbClr val="FDECEC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548640" y="36576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código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651760" y="3657600"/>
            <a:ext cx="8988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continua de security hotspots con SonarQube en ambos proyectos.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709160"/>
            <a:ext cx="1828800" cy="822960"/>
          </a:xfrm>
          <a:prstGeom prst="rect">
            <a:avLst/>
          </a:prstGeom>
          <a:solidFill>
            <a:srgbClr val="FDECEC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 txBox="1"/>
          <p:nvPr/>
        </p:nvSpPr>
        <p:spPr>
          <a:xfrm>
            <a:off x="548640" y="4709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651760" y="4709160"/>
            <a:ext cx="8988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formal siguiendo OWASP y pruebas de seguridad dedicadas.</a:t>
            </a:r>
            <a:endParaRPr lang="en-US" sz="1400" dirty="0"/>
          </a:p>
        </p:txBody>
      </p:sp>
      <p:pic>
        <p:nvPicPr>
          <p:cNvPr id="18" name="Google Shape;119;p1">
            <a:extLst>
              <a:ext uri="{FF2B5EF4-FFF2-40B4-BE49-F238E27FC236}">
                <a16:creationId xmlns:a16="http://schemas.microsoft.com/office/drawing/2014/main" id="{A408FE46-D118-D08B-192B-48B089FAAE4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572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463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KANBAN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24028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15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priorizado con jerarquía Épica → Historia de Usuario → Tarea.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15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con estados: Por Hacer / En desarrollo / Terminado.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15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semanales documentados como "sprint" para trazabilidad (Sprint Backlog, Burndown), sin ceremonias formales de Scrum.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15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daily meetings ni sprint planning con equipo, al trabajar en solitario — </a:t>
            </a:r>
            <a:r>
              <a:rPr lang="en-US" sz="1500" dirty="0" err="1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</a:t>
            </a:r>
            <a:r>
              <a:rPr lang="en-US" sz="15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será</a:t>
            </a:r>
            <a:r>
              <a:rPr lang="en-US" sz="15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reconstruida</a:t>
            </a:r>
            <a:r>
              <a:rPr lang="en-US" sz="15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desde commits y </a:t>
            </a:r>
            <a:r>
              <a:rPr lang="en-US" sz="1500" dirty="0" err="1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</a:t>
            </a:r>
            <a:r>
              <a:rPr lang="en-US" sz="15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i="1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retrospectiva.md</a:t>
            </a:r>
            <a:r>
              <a:rPr lang="en-US" sz="15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■"/>
            </a:pPr>
            <a:r>
              <a:rPr lang="en-US" sz="15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versionado en Git como evidencia de decisiones e impedimentos.</a:t>
            </a:r>
            <a:endParaRPr lang="en-US" sz="1500" dirty="0"/>
          </a:p>
        </p:txBody>
      </p:sp>
      <p:pic>
        <p:nvPicPr>
          <p:cNvPr id="8" name="Google Shape;119;p1">
            <a:extLst>
              <a:ext uri="{FF2B5EF4-FFF2-40B4-BE49-F238E27FC236}">
                <a16:creationId xmlns:a16="http://schemas.microsoft.com/office/drawing/2014/main" id="{7AE305F6-AB84-8689-5CC2-282D17971D8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4572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(avance a la fecha — Fase 1)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0312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el alcance de Promaty me obligó a analizar los procesos de RRHH de una empresa de construcción de principio a fin antes de pensar en código.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Acoté el proyecto a un MVP que pueda construir sola en el semestre, priorizando los procesos críticos del ciclo de vida del colaborador.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en solitario me exige tomar y defender cada decisión de diseño — justo la parte que quiero desarrollar para un rol de liderazgo a futuro.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39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una conclusión parcial: en el entregable final incorporaré resultados de construcción, pruebas y aprendizajes técnicos.</a:t>
            </a:r>
            <a:endParaRPr lang="en-US" sz="1600" dirty="0"/>
          </a:p>
        </p:txBody>
      </p:sp>
      <p:pic>
        <p:nvPicPr>
          <p:cNvPr id="8" name="Google Shape;119;p1">
            <a:extLst>
              <a:ext uri="{FF2B5EF4-FFF2-40B4-BE49-F238E27FC236}">
                <a16:creationId xmlns:a16="http://schemas.microsoft.com/office/drawing/2014/main" id="{ABE3345E-0FF0-D62A-B4A9-C1D6E638D03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arla\AppData\Local\Temp\claude\C--Proyectos-Proyecto-de-Titulo-promaty-tracking\3a14e669-ef31-4470-96e8-807bfb98c4c8\scratchpad\pptx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6257634"/>
            <a:ext cx="868680" cy="32604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13248" y="3063240"/>
            <a:ext cx="1371600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1"/>
          <p:cNvSpPr txBox="1"/>
          <p:nvPr/>
        </p:nvSpPr>
        <p:spPr>
          <a:xfrm>
            <a:off x="0" y="320040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39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600" dirty="0"/>
          </a:p>
        </p:txBody>
      </p:sp>
      <p:pic>
        <p:nvPicPr>
          <p:cNvPr id="6" name="Google Shape;119;p1">
            <a:extLst>
              <a:ext uri="{FF2B5EF4-FFF2-40B4-BE49-F238E27FC236}">
                <a16:creationId xmlns:a16="http://schemas.microsoft.com/office/drawing/2014/main" id="{082F8454-276C-D998-B5E4-151F066FE77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4771" y="34506"/>
            <a:ext cx="2803584" cy="605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941</Words>
  <Application>Microsoft Office PowerPoint</Application>
  <PresentationFormat>Panorámica</PresentationFormat>
  <Paragraphs>115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KARLA VERONICA RAMIREZ HIDALGO</cp:lastModifiedBy>
  <cp:revision>3</cp:revision>
  <dcterms:created xsi:type="dcterms:W3CDTF">2026-09-25T05:46:38Z</dcterms:created>
  <dcterms:modified xsi:type="dcterms:W3CDTF">2026-09-25T06:10:44Z</dcterms:modified>
</cp:coreProperties>
</file>