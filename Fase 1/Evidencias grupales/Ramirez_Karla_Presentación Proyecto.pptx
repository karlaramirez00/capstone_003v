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274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69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hyperlink" Target="https://dbdiagram.io/d/Promaty-Modelo-Datos-6ab60b6e0f25a52d0103c26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916" y="1417320"/>
            <a:ext cx="4389120" cy="164739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TÍTULO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413248" y="3794760"/>
            <a:ext cx="137160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 txBox="1"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RRHH para empresa del rubro construcción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— Sección 003_V</a:t>
            </a:r>
            <a:endParaRPr lang="en-US" sz="1300" dirty="0"/>
          </a:p>
        </p:txBody>
      </p:sp>
      <p:pic>
        <p:nvPicPr>
          <p:cNvPr id="8" name="Google Shape;119;p1">
            <a:extLst>
              <a:ext uri="{FF2B5EF4-FFF2-40B4-BE49-F238E27FC236}">
                <a16:creationId xmlns:a16="http://schemas.microsoft.com/office/drawing/2014/main" id="{9289C0F3-7DEA-07CB-6FF9-E8842D34C1B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749040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20299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Ramírez Hidalgo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2898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37673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Full Stack, análisis y gestión del </a:t>
            </a:r>
            <a:r>
              <a:rPr lang="en-US" sz="16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GUÍA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4636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Valenzuela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5212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55046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003_V</a:t>
            </a:r>
            <a:endParaRPr lang="en-US" sz="1600" dirty="0"/>
          </a:p>
        </p:txBody>
      </p:sp>
      <p:pic>
        <p:nvPicPr>
          <p:cNvPr id="18" name="Google Shape;129;p2" descr="Karla R.">
            <a:extLst>
              <a:ext uri="{FF2B5EF4-FFF2-40B4-BE49-F238E27FC236}">
                <a16:creationId xmlns:a16="http://schemas.microsoft.com/office/drawing/2014/main" id="{B966D175-B5DE-75A7-15C5-764F0C4EB1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427" y="1772729"/>
            <a:ext cx="1969544" cy="1969544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20" name="Google Shape;119;p1">
            <a:extLst>
              <a:ext uri="{FF2B5EF4-FFF2-40B4-BE49-F238E27FC236}">
                <a16:creationId xmlns:a16="http://schemas.microsoft.com/office/drawing/2014/main" id="{60FD7F6B-4B80-A092-48D6-13399349BED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Promaty es un sistema de gestión de RRHH pensado para una empresa del rubro construcción que ejecuta proyectos simultáneos en distintas obras, cada una identificada por un centro de costo.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incorporación, </a:t>
            </a:r>
            <a:r>
              <a:rPr lang="en-US" sz="16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traspaso</a:t>
            </a: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6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</a:t>
            </a: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desvinculación de </a:t>
            </a:r>
            <a:r>
              <a:rPr lang="en-US" sz="16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</a:t>
            </a: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</a:t>
            </a: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directamente el avance de los proyectos.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empresa apoya su gestión de RRHH en un ERP externo (Rex+, con módulos certificados por la Dirección del Trabajo) y en procesos manuales paralelos.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marcaje de asistencia se registra en un libro físico; permisos, vacaciones y otras solicitudes se coordinan por WhatsApp, correo o llamada, sin registro ni trazabilidad.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 Rex+ está limitado al personal de RRHH — las jefaturas de centro de costo no cuentan con un canal formal para generar ni aprobar solicitudes.</a:t>
            </a:r>
            <a:endParaRPr lang="en-US" sz="1600" dirty="0"/>
          </a:p>
        </p:txBody>
      </p:sp>
      <p:pic>
        <p:nvPicPr>
          <p:cNvPr id="7" name="Google Shape;119;p1">
            <a:extLst>
              <a:ext uri="{FF2B5EF4-FFF2-40B4-BE49-F238E27FC236}">
                <a16:creationId xmlns:a16="http://schemas.microsoft.com/office/drawing/2014/main" id="{F9AFF9FE-79ED-4A51-8B5B-7A9F4D814E0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gestiones del ciclo de vida del trabajador —contratación, </a:t>
            </a:r>
            <a:r>
              <a:rPr lang="en-US" sz="17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traspasos</a:t>
            </a: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término de la relación laboral, permisos y vacaciones— se coordinan de forma informal entre la jefatura de obra y RRHH.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registro centralizado ni un flujo de aprobación formal para estas solicitudes.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gestiona estos procesos de forma manual y, en paralelo, debe mantener alineado el sistema </a:t>
            </a:r>
            <a:r>
              <a:rPr lang="en-US" sz="17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</a:t>
            </a: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ERP externo para el cálculo de remuneraciones.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doble digitación, pérdida de </a:t>
            </a:r>
            <a:r>
              <a:rPr lang="en-US" sz="17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desorden</a:t>
            </a:r>
            <a:r>
              <a:rPr lang="en-US" sz="17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errores por falta de validación formal antes de aprobar cada solicitud.</a:t>
            </a:r>
            <a:endParaRPr lang="en-US" sz="1700" dirty="0"/>
          </a:p>
        </p:txBody>
      </p:sp>
      <p:pic>
        <p:nvPicPr>
          <p:cNvPr id="7" name="Google Shape;119;p1">
            <a:extLst>
              <a:ext uri="{FF2B5EF4-FFF2-40B4-BE49-F238E27FC236}">
                <a16:creationId xmlns:a16="http://schemas.microsoft.com/office/drawing/2014/main" id="{03441531-69CC-7125-5B81-DC653C89340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13248" y="3063240"/>
            <a:ext cx="13716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0" y="32004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5600" dirty="0"/>
          </a:p>
        </p:txBody>
      </p:sp>
      <p:pic>
        <p:nvPicPr>
          <p:cNvPr id="6" name="Google Shape;119;p1">
            <a:extLst>
              <a:ext uri="{FF2B5EF4-FFF2-40B4-BE49-F238E27FC236}">
                <a16:creationId xmlns:a16="http://schemas.microsoft.com/office/drawing/2014/main" id="{589B8AE7-E11E-3156-E9EE-BC5F97DF91E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PROMATY?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centraliza las solicitudes asociadas al ciclo de vida del colaborador (contratación, anexos, finiquito, traspasos entre centros de costo, permisos y vacaciones), además de la gestión de asistencia y remuneraciones.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3514344" cy="237744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548640" y="3200400"/>
            <a:ext cx="73152" cy="2377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aprobación en 2 niveles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3011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de centro de costo → RRHH, con motivo de rechazo y </a:t>
            </a:r>
            <a:r>
              <a:rPr lang="en-US" sz="125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</a:t>
            </a: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7304" y="3200400"/>
            <a:ext cx="3514344" cy="237744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337304" y="3200400"/>
            <a:ext cx="73152" cy="2377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611624" y="3383280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11624" y="4114800"/>
            <a:ext cx="3011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y gestiona solo los centros de costo que le corresponden.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25968" y="3200400"/>
            <a:ext cx="3514344" cy="237744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8125968" y="3200400"/>
            <a:ext cx="73152" cy="2377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8400288" y="3383280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Rex+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400288" y="4114800"/>
            <a:ext cx="3011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 en este proyecto: evita que RRHH vuelva a digitar los datos </a:t>
            </a:r>
            <a:r>
              <a:rPr lang="en-US" sz="125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</a:t>
            </a: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</a:t>
            </a:r>
            <a:r>
              <a:rPr lang="en-US" sz="125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5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2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stub)</a:t>
            </a:r>
            <a:endParaRPr lang="en-US" sz="1250" dirty="0"/>
          </a:p>
        </p:txBody>
      </p:sp>
      <p:pic>
        <p:nvPicPr>
          <p:cNvPr id="19" name="Google Shape;119;p1">
            <a:extLst>
              <a:ext uri="{FF2B5EF4-FFF2-40B4-BE49-F238E27FC236}">
                <a16:creationId xmlns:a16="http://schemas.microsoft.com/office/drawing/2014/main" id="{AAA465E2-49C7-FD1D-5E9C-D63CDAD0BC7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sistema de gestión de solicitudes del ciclo de vida del colaborador, junto con la gestión de asistencia y remuneraciones, que formalice y dé trazabilidad al proceso de solicitud y aprobación entre la jefatura de centro de costo y RRHH.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110916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 las jefaturas de obra generar solicitudes formales del ciclo de vida del colaborador, reemplazando la coordinación informal actual.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flujo de aprobación en dos niveles, entre la jefatura de centro de costo y RRHH, con motivo de rechazo y ciclo de corrección.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 ficha del colaborador y el estado de cada solicitud, con trazabilidad completa.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carga de los datos aprobados en Rex+ (simulado), evitando la doble digitación manual.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doble digitación y los errores asociados al ingreso manual de datos en más de una plataforma.</a:t>
            </a:r>
            <a:endParaRPr lang="en-US" sz="1350" dirty="0"/>
          </a:p>
        </p:txBody>
      </p:sp>
      <p:pic>
        <p:nvPicPr>
          <p:cNvPr id="10" name="Google Shape;119;p1">
            <a:extLst>
              <a:ext uri="{FF2B5EF4-FFF2-40B4-BE49-F238E27FC236}">
                <a16:creationId xmlns:a16="http://schemas.microsoft.com/office/drawing/2014/main" id="{EE96AAAA-4E4E-7F7A-0CCF-2994C26D02E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1645920"/>
            <a:ext cx="38490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principales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38490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/ Anexo / Finiquito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(centro de costo)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PlatformStatus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Role / Permission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 err="1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Remuneraciones</a:t>
            </a:r>
            <a:endParaRPr lang="en-US" sz="1350" dirty="0">
              <a:solidFill>
                <a:srgbClr val="393D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endParaRPr lang="en-US" sz="1350" dirty="0">
              <a:solidFill>
                <a:srgbClr val="393D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1100" i="1" dirty="0">
                <a:hlinkClick r:id="rId4"/>
              </a:rPr>
              <a:t>https://dbdiagram.io/d/Promaty-Modelo-Datos-6ab60b6e0f25a52d0103c261</a:t>
            </a:r>
            <a:endParaRPr lang="en-US" sz="1100" i="1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endParaRPr lang="en-US" sz="1350" dirty="0"/>
          </a:p>
        </p:txBody>
      </p:sp>
      <p:pic>
        <p:nvPicPr>
          <p:cNvPr id="10" name="Google Shape;119;p1">
            <a:extLst>
              <a:ext uri="{FF2B5EF4-FFF2-40B4-BE49-F238E27FC236}">
                <a16:creationId xmlns:a16="http://schemas.microsoft.com/office/drawing/2014/main" id="{0989F508-2DA2-8BD1-E7EC-E1F2EF31239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43527B7-C23C-CC8A-6B70-70DCFB2F24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7965" y="743141"/>
            <a:ext cx="3177488" cy="58405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pic>
        <p:nvPicPr>
          <p:cNvPr id="8" name="Google Shape;119;p1">
            <a:extLst>
              <a:ext uri="{FF2B5EF4-FFF2-40B4-BE49-F238E27FC236}">
                <a16:creationId xmlns:a16="http://schemas.microsoft.com/office/drawing/2014/main" id="{C8B5925B-A85F-BC14-8DC9-A69ACAE4E70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7C730A6-F675-0364-72E3-588CA1C27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2741" y="1294466"/>
            <a:ext cx="8163334" cy="5378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514344" cy="457200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14344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822960" y="178308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29657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Vuetify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7304" y="1554480"/>
            <a:ext cx="3514344" cy="457200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337304" y="1554480"/>
            <a:ext cx="3514344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4611624" y="178308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611624" y="2377440"/>
            <a:ext cx="29657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Tx/>
              <a:buChar char="■"/>
            </a:pPr>
            <a:r>
              <a:rPr lang="es-ES" sz="1400" dirty="0"/>
              <a:t>Spring Cloud (Eureka, </a:t>
            </a:r>
            <a:r>
              <a:rPr lang="es-ES" sz="1400" dirty="0" err="1"/>
              <a:t>OpenFeign</a:t>
            </a:r>
            <a:r>
              <a:rPr lang="es-ES" sz="1400" dirty="0"/>
              <a:t>)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■"/>
            </a:pPr>
            <a:r>
              <a:rPr lang="es-ES" sz="1400" dirty="0"/>
              <a:t>5 microservicios: </a:t>
            </a:r>
          </a:p>
          <a:p>
            <a:pPr marL="800100" lvl="1" indent="-342900">
              <a:spcAft>
                <a:spcPts val="1000"/>
              </a:spcAft>
              <a:buSzPct val="100000"/>
              <a:buFontTx/>
              <a:buChar char="■"/>
            </a:pPr>
            <a:r>
              <a:rPr lang="es-ES" sz="1400" dirty="0"/>
              <a:t>eureka-server</a:t>
            </a:r>
          </a:p>
          <a:p>
            <a:pPr marL="800100" lvl="1" indent="-342900">
              <a:spcAft>
                <a:spcPts val="1000"/>
              </a:spcAft>
              <a:buSzPct val="100000"/>
              <a:buFontTx/>
              <a:buChar char="■"/>
            </a:pPr>
            <a:r>
              <a:rPr lang="es-ES" sz="1400" dirty="0" err="1"/>
              <a:t>gateway</a:t>
            </a:r>
            <a:r>
              <a:rPr lang="es-ES" sz="1400" dirty="0"/>
              <a:t>-server</a:t>
            </a:r>
          </a:p>
          <a:p>
            <a:pPr marL="800100" lvl="1" indent="-342900">
              <a:spcAft>
                <a:spcPts val="1000"/>
              </a:spcAft>
              <a:buSzPct val="100000"/>
              <a:buFontTx/>
              <a:buChar char="■"/>
            </a:pPr>
            <a:r>
              <a:rPr lang="es-ES" sz="1400" dirty="0" err="1"/>
              <a:t>authorizer</a:t>
            </a:r>
            <a:r>
              <a:rPr lang="es-ES" sz="1400" dirty="0"/>
              <a:t>-server</a:t>
            </a:r>
          </a:p>
          <a:p>
            <a:pPr marL="800100" lvl="1" indent="-342900">
              <a:spcAft>
                <a:spcPts val="1000"/>
              </a:spcAft>
              <a:buSzPct val="100000"/>
              <a:buFontTx/>
              <a:buChar char="■"/>
            </a:pPr>
            <a:r>
              <a:rPr lang="es-ES" sz="1400" dirty="0" err="1"/>
              <a:t>user</a:t>
            </a:r>
            <a:r>
              <a:rPr lang="es-ES" sz="1400" dirty="0"/>
              <a:t>-server</a:t>
            </a:r>
          </a:p>
          <a:p>
            <a:pPr marL="800100" lvl="1" indent="-342900">
              <a:spcAft>
                <a:spcPts val="1000"/>
              </a:spcAft>
              <a:buSzPct val="100000"/>
              <a:buFontTx/>
              <a:buChar char="■"/>
            </a:pPr>
            <a:r>
              <a:rPr lang="es-ES" sz="1400" dirty="0" err="1"/>
              <a:t>rrhh</a:t>
            </a:r>
            <a:r>
              <a:rPr lang="es-ES" sz="1400" dirty="0"/>
              <a:t>-server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25968" y="1554480"/>
            <a:ext cx="3514344" cy="457200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8125968" y="1554480"/>
            <a:ext cx="3514344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8400288" y="178308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 infraestructura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400288" y="2377440"/>
            <a:ext cx="29657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(calidad y seguridad)</a:t>
            </a:r>
            <a:endParaRPr lang="en-US" sz="1400" dirty="0"/>
          </a:p>
        </p:txBody>
      </p:sp>
      <p:pic>
        <p:nvPicPr>
          <p:cNvPr id="18" name="Google Shape;119;p1">
            <a:extLst>
              <a:ext uri="{FF2B5EF4-FFF2-40B4-BE49-F238E27FC236}">
                <a16:creationId xmlns:a16="http://schemas.microsoft.com/office/drawing/2014/main" id="{A273E5E4-8EC4-94B6-E52E-F67D3995040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1828800" cy="822960"/>
          </a:xfrm>
          <a:prstGeom prst="rect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554480"/>
            <a:ext cx="8988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basado en roles y permisos (ver, crear, editar, exportar) sobre los módulos ya construidos.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828800" cy="822960"/>
          </a:xfrm>
          <a:prstGeom prst="rect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54864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roadmap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2606040"/>
            <a:ext cx="8988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acceso ligado a la aprobación en dos niveles y a la asignación por centro de costo está diseñado, en el roadmap para próximas etapas.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1828800" cy="822960"/>
          </a:xfrm>
          <a:prstGeom prst="rect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54864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3657600"/>
            <a:ext cx="8988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continua de security hotspots con SonarQube.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709160"/>
            <a:ext cx="1828800" cy="822960"/>
          </a:xfrm>
          <a:prstGeom prst="rect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548640" y="4709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51760" y="4709160"/>
            <a:ext cx="8988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formal siguiendo OWASP y pruebas de seguridad dedicadas.</a:t>
            </a:r>
            <a:endParaRPr lang="en-US" sz="1400" dirty="0"/>
          </a:p>
        </p:txBody>
      </p:sp>
      <p:pic>
        <p:nvPicPr>
          <p:cNvPr id="18" name="Google Shape;119;p1">
            <a:extLst>
              <a:ext uri="{FF2B5EF4-FFF2-40B4-BE49-F238E27FC236}">
                <a16:creationId xmlns:a16="http://schemas.microsoft.com/office/drawing/2014/main" id="{A408FE46-D118-D08B-192B-48B089FAAE4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</a:t>
            </a:r>
            <a:r>
              <a:rPr lang="en-US" sz="2400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s-ES" sz="2400" i="1" dirty="0"/>
              <a:t>con hitos contractuales</a:t>
            </a:r>
            <a:r>
              <a:rPr lang="en-US" sz="2400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000" i="1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4028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Backlog priorizado con jerarquía Épica → Historia de Usuario → Tarea.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Tablero con estados: Por Hacer / En desarrollo / Terminado.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El flujo avanza épica por épica; cada </a:t>
            </a:r>
            <a:r>
              <a:rPr lang="es-ES" sz="1600" dirty="0" err="1"/>
              <a:t>commit</a:t>
            </a:r>
            <a:r>
              <a:rPr lang="es-ES" sz="1600" dirty="0"/>
              <a:t> en Git registra el progreso como evidencia de proceso.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dirty="0"/>
              <a:t>Daily con Tech Leader y equipo de desarrollo para revisión de flujo.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dirty="0"/>
              <a:t>Reuniones con </a:t>
            </a:r>
            <a:r>
              <a:rPr lang="es-ES" dirty="0" err="1"/>
              <a:t>Product</a:t>
            </a:r>
            <a:r>
              <a:rPr lang="es-ES" dirty="0"/>
              <a:t> Owner según avance de épicas; ocasionalmente con </a:t>
            </a:r>
            <a:r>
              <a:rPr lang="es-ES" dirty="0" err="1"/>
              <a:t>Product</a:t>
            </a:r>
            <a:r>
              <a:rPr lang="es-ES" dirty="0"/>
              <a:t> Owner + cliente para validación y </a:t>
            </a:r>
            <a:r>
              <a:rPr lang="es-ES" dirty="0" err="1"/>
              <a:t>feedback</a:t>
            </a:r>
            <a:r>
              <a:rPr lang="es-ES" dirty="0"/>
              <a:t>.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s-ES" sz="1600" dirty="0" err="1"/>
              <a:t>Commits</a:t>
            </a:r>
            <a:r>
              <a:rPr lang="es-ES" sz="1600" dirty="0"/>
              <a:t> etiquetados con ID de tarea para trazabilidad entre código y backlog en Jira.</a:t>
            </a:r>
          </a:p>
        </p:txBody>
      </p:sp>
      <p:pic>
        <p:nvPicPr>
          <p:cNvPr id="8" name="Google Shape;119;p1">
            <a:extLst>
              <a:ext uri="{FF2B5EF4-FFF2-40B4-BE49-F238E27FC236}">
                <a16:creationId xmlns:a16="http://schemas.microsoft.com/office/drawing/2014/main" id="{7AE305F6-AB84-8689-5CC2-282D17971D8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457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(avance a la fecha — Fase 1)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alcance de Promaty me obligó a analizar los procesos de RRHH de una empresa de construcción de principio a fin antes de pensar en código.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Acoté el proyecto a un MVP que pueda construir sola en el semestre, priorizando los procesos críticos del ciclo de vida del colaborador.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en solitario me exige tomar y defender cada decisión de diseño — justo la parte que quiero desarrollar para un rol de liderazgo a futuro.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39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una conclusión parcial: en el entregable final incorporaré resultados de construcción, pruebas y aprendizajes técnicos.</a:t>
            </a:r>
            <a:endParaRPr lang="en-US" sz="1600" dirty="0"/>
          </a:p>
        </p:txBody>
      </p:sp>
      <p:pic>
        <p:nvPicPr>
          <p:cNvPr id="8" name="Google Shape;119;p1">
            <a:extLst>
              <a:ext uri="{FF2B5EF4-FFF2-40B4-BE49-F238E27FC236}">
                <a16:creationId xmlns:a16="http://schemas.microsoft.com/office/drawing/2014/main" id="{ABE3345E-0FF0-D62A-B4A9-C1D6E638D03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la\AppData\Local\Temp\claude\C--Proyectos-Proyecto-de-Titulo-promaty-tracking\3a14e669-ef31-4470-96e8-807bfb98c4c8\scratchpad\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6257634"/>
            <a:ext cx="868680" cy="3260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13248" y="3063240"/>
            <a:ext cx="13716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0" y="32004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9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600" dirty="0"/>
          </a:p>
        </p:txBody>
      </p:sp>
      <p:pic>
        <p:nvPicPr>
          <p:cNvPr id="6" name="Google Shape;119;p1">
            <a:extLst>
              <a:ext uri="{FF2B5EF4-FFF2-40B4-BE49-F238E27FC236}">
                <a16:creationId xmlns:a16="http://schemas.microsoft.com/office/drawing/2014/main" id="{082F8454-276C-D998-B5E4-151F066FE77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771" y="34506"/>
            <a:ext cx="2803584" cy="60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938</Words>
  <Application>Microsoft Office PowerPoint</Application>
  <PresentationFormat>Panorámica</PresentationFormat>
  <Paragraphs>114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KARLA VERONICA RAMIREZ HIDALGO</cp:lastModifiedBy>
  <cp:revision>4</cp:revision>
  <dcterms:created xsi:type="dcterms:W3CDTF">2026-09-25T05:46:38Z</dcterms:created>
  <dcterms:modified xsi:type="dcterms:W3CDTF">2026-09-30T02:26:53Z</dcterms:modified>
</cp:coreProperties>
</file>